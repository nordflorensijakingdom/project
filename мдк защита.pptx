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32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86" d="100"/>
          <a:sy n="86" d="100"/>
        </p:scale>
        <p:origin x="138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0682FE-B6D3-4DA0-AE63-E13409AFDC2A}" type="datetimeFigureOut">
              <a:rPr lang="ru-RU" smtClean="0"/>
              <a:t>18.06.2025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402C7B-2D99-45E7-A2AE-DAE368918F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1874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16E1C-3F3E-4067-B788-7CF48FE9BDCD}" type="datetime1">
              <a:rPr lang="ru-RU" smtClean="0"/>
              <a:t>18.06.2025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EDA1ABF-7CBD-47D5-BD6C-74FED7286C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548" y="418339"/>
            <a:ext cx="1038913" cy="1181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28894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314D0-AF8C-4512-9008-20F847A32992}" type="datetime1">
              <a:rPr lang="ru-RU" smtClean="0"/>
              <a:t>18.06.2025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20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&lt;#&gt;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68CDCBE-22AB-4A8C-8F17-13389CC81F0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667" y="365126"/>
            <a:ext cx="1054638" cy="1081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00844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73C1B-43D5-40BF-85C3-9186ECFF64E6}" type="datetime1">
              <a:rPr lang="ru-RU" smtClean="0"/>
              <a:t>18.06.2025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88949-99E6-40A6-8578-9175AF3A91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7161122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63AE5-5EE2-435C-992C-BABDBB807D9C}" type="datetime1">
              <a:rPr lang="ru-RU" smtClean="0"/>
              <a:t>18.06.2025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88949-99E6-40A6-8578-9175AF3A91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030824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30D34-FDE8-4C03-B75A-334DF885FF2C}" type="datetime1">
              <a:rPr lang="ru-RU" smtClean="0"/>
              <a:t>18.06.2025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88949-99E6-40A6-8578-9175AF3A91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6664962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A2944-964C-47B0-8B4E-8954524FB543}" type="datetime1">
              <a:rPr lang="ru-RU" smtClean="0"/>
              <a:t>18.06.2025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88949-99E6-40A6-8578-9175AF3A91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3059233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949C2-7756-4466-B748-28D2A3B49633}" type="datetime1">
              <a:rPr lang="ru-RU" smtClean="0"/>
              <a:t>18.06.2025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88949-99E6-40A6-8578-9175AF3A91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931504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9C863-9A24-4605-B53F-BDFBC5C2636F}" type="datetime1">
              <a:rPr lang="ru-RU" smtClean="0"/>
              <a:t>18.06.2025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88949-99E6-40A6-8578-9175AF3A91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8748867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6C189-C76F-4D66-8570-D2CD1BEC0187}" type="datetime1">
              <a:rPr lang="ru-RU" smtClean="0"/>
              <a:t>18.06.2025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88949-99E6-40A6-8578-9175AF3A91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0503623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54C3C-BF15-4E59-8921-C927D2B252AF}" type="datetime1">
              <a:rPr lang="ru-RU" smtClean="0"/>
              <a:t>18.06.2025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88949-99E6-40A6-8578-9175AF3A91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5500074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55441-57EA-4A40-8B77-2BF2FA99F1E1}" type="datetime1">
              <a:rPr lang="ru-RU" smtClean="0"/>
              <a:t>18.06.2025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88949-99E6-40A6-8578-9175AF3A91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863539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4000">
              <a:schemeClr val="accent6">
                <a:lumMod val="20000"/>
                <a:lumOff val="80000"/>
              </a:schemeClr>
            </a:gs>
            <a:gs pos="82000">
              <a:schemeClr val="accent6">
                <a:lumMod val="60000"/>
                <a:lumOff val="40000"/>
              </a:schemeClr>
            </a:gs>
            <a:gs pos="100000">
              <a:schemeClr val="accent6">
                <a:lumMod val="7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D6B8BB-38E1-415B-A97B-2CFB933DA052}" type="datetime1">
              <a:rPr lang="ru-RU" smtClean="0"/>
              <a:t>18.06.2025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088949-99E6-40A6-8578-9175AF3A91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1388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push dir="u"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ordFlorensijaKingdom/PROJECT.git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18CE5E-1642-4567-83DC-51260424AF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ru-RU" sz="6600" b="1" dirty="0">
                <a:ln>
                  <a:solidFill>
                    <a:schemeClr val="accent6">
                      <a:lumMod val="5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</a:rPr>
              <a:t>Онлайн школа </a:t>
            </a:r>
            <a:r>
              <a:rPr lang="en-US" sz="6600" b="1" dirty="0">
                <a:ln>
                  <a:solidFill>
                    <a:schemeClr val="accent6">
                      <a:lumMod val="5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</a:rPr>
              <a:t>PC4DINOS</a:t>
            </a:r>
            <a:endParaRPr lang="ru-RU" sz="6600" b="1" dirty="0">
              <a:ln>
                <a:solidFill>
                  <a:schemeClr val="accent6">
                    <a:lumMod val="50000"/>
                  </a:schemeClr>
                </a:solidFill>
              </a:ln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F30B123-C5D8-4A0F-96E7-0E11B329EA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3200" b="1" dirty="0">
                <a:solidFill>
                  <a:schemeClr val="accent6">
                    <a:lumMod val="50000"/>
                  </a:schemeClr>
                </a:solidFill>
              </a:rPr>
              <a:t>Дорожкин Михаил 22919-21</a:t>
            </a:r>
          </a:p>
        </p:txBody>
      </p:sp>
    </p:spTree>
    <p:extLst>
      <p:ext uri="{BB962C8B-B14F-4D97-AF65-F5344CB8AC3E}">
        <p14:creationId xmlns:p14="http://schemas.microsoft.com/office/powerpoint/2010/main" val="4036546950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A250CC-794A-43E7-B8FA-5E1430F62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47275" y="628400"/>
            <a:ext cx="10515600" cy="1325563"/>
          </a:xfrm>
        </p:spPr>
        <p:txBody>
          <a:bodyPr/>
          <a:lstStyle/>
          <a:p>
            <a:pPr algn="ctr"/>
            <a:r>
              <a:rPr lang="ru-RU" b="1" dirty="0">
                <a:ln w="22225">
                  <a:solidFill>
                    <a:schemeClr val="accent6">
                      <a:lumMod val="50000"/>
                    </a:schemeClr>
                  </a:solidFill>
                  <a:prstDash val="solid"/>
                </a:ln>
                <a:solidFill>
                  <a:schemeClr val="accent6"/>
                </a:solidFill>
              </a:rPr>
              <a:t>Предметная область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BB536ED-7530-427D-9C89-9AB9EA13A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062" y="1953963"/>
            <a:ext cx="7508631" cy="3332528"/>
          </a:xfrm>
        </p:spPr>
        <p:txBody>
          <a:bodyPr/>
          <a:lstStyle/>
          <a:p>
            <a:pPr marL="0" indent="0" algn="ctr">
              <a:buNone/>
            </a:pPr>
            <a:r>
              <a:rPr lang="ru-RU" b="1" dirty="0">
                <a:solidFill>
                  <a:schemeClr val="accent6">
                    <a:lumMod val="50000"/>
                  </a:schemeClr>
                </a:solidFill>
              </a:rPr>
              <a:t>Заказчик желает получить ПО, которое позволяет обучить пользователей быстрой печати и изучить сочетания клавиш для ОС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Windows</a:t>
            </a:r>
            <a:r>
              <a:rPr lang="ru-RU" b="1" dirty="0">
                <a:solidFill>
                  <a:schemeClr val="accent6">
                    <a:lumMod val="50000"/>
                  </a:schemeClr>
                </a:solidFill>
              </a:rPr>
              <a:t>. ПО должно предоставлять возможность ученику и учителю взаимодействовать напрямую через чаты и косвенно через систему оценивания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834C9B9-4328-449B-9AF8-4E9B043EA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45609848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E19CCE-9F49-4D42-B78F-05F44FF5F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7107" y="360191"/>
            <a:ext cx="6852139" cy="1119703"/>
          </a:xfrm>
        </p:spPr>
        <p:txBody>
          <a:bodyPr/>
          <a:lstStyle/>
          <a:p>
            <a:r>
              <a:rPr lang="ru-RU" b="1" dirty="0">
                <a:ln w="22225">
                  <a:solidFill>
                    <a:schemeClr val="accent6">
                      <a:lumMod val="50000"/>
                    </a:schemeClr>
                  </a:solidFill>
                  <a:prstDash val="solid"/>
                </a:ln>
                <a:solidFill>
                  <a:schemeClr val="accent6"/>
                </a:solidFill>
              </a:rPr>
              <a:t>Требования к ПО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2FA4A2-02A3-4469-8306-F05E33E20E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7684" y="1974947"/>
            <a:ext cx="6852139" cy="3675577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ru-RU" b="1" dirty="0">
                <a:solidFill>
                  <a:schemeClr val="accent6">
                    <a:lumMod val="50000"/>
                  </a:schemeClr>
                </a:solidFill>
              </a:rPr>
              <a:t>Устойчивость к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DDos</a:t>
            </a:r>
            <a:r>
              <a:rPr lang="ru-RU" b="1" dirty="0">
                <a:solidFill>
                  <a:schemeClr val="accent6">
                    <a:lumMod val="50000"/>
                  </a:schemeClr>
                </a:solidFill>
              </a:rPr>
              <a:t> атакам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b="1" dirty="0">
                <a:solidFill>
                  <a:schemeClr val="accent6">
                    <a:lumMod val="50000"/>
                  </a:schemeClr>
                </a:solidFill>
              </a:rPr>
              <a:t>Единовременная нагрузка 300 человек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b="1" dirty="0">
                <a:solidFill>
                  <a:schemeClr val="accent6">
                    <a:lumMod val="50000"/>
                  </a:schemeClr>
                </a:solidFill>
              </a:rPr>
              <a:t>500 личных кабинетов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b="1" dirty="0">
                <a:solidFill>
                  <a:schemeClr val="accent6">
                    <a:lumMod val="50000"/>
                  </a:schemeClr>
                </a:solidFill>
              </a:rPr>
              <a:t>Срок выполнения работ – 6 месяцев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4A9BD3A-84C6-4CEF-9AC6-560070EB6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759880424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FD9E2B-C2AF-4890-8B7F-73A2EE96A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7591" y="311951"/>
            <a:ext cx="10515600" cy="1325563"/>
          </a:xfrm>
        </p:spPr>
        <p:txBody>
          <a:bodyPr/>
          <a:lstStyle/>
          <a:p>
            <a:r>
              <a:rPr lang="ru-RU" b="1" dirty="0">
                <a:ln w="22225">
                  <a:solidFill>
                    <a:schemeClr val="accent6">
                      <a:lumMod val="50000"/>
                    </a:schemeClr>
                  </a:solidFill>
                  <a:prstDash val="solid"/>
                </a:ln>
                <a:solidFill>
                  <a:schemeClr val="accent6"/>
                </a:solidFill>
              </a:rPr>
              <a:t>Модель жизненного цикла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4B8DC7-506F-4646-8FA3-D2E220F013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727" y="1674649"/>
            <a:ext cx="8867273" cy="13255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>
                <a:solidFill>
                  <a:schemeClr val="accent6">
                    <a:lumMod val="50000"/>
                  </a:schemeClr>
                </a:solidFill>
              </a:rPr>
              <a:t>Выбрана инкрементная модель жизненного цикла: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b="1" dirty="0">
                <a:solidFill>
                  <a:schemeClr val="accent6">
                    <a:lumMod val="50000"/>
                  </a:schemeClr>
                </a:solidFill>
              </a:rPr>
              <a:t>Возможность сдать промежуточные версии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3572628-5122-45AA-A53F-46E6FDB6D0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8208" y="2573731"/>
            <a:ext cx="9557829" cy="414774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EC56229-10C8-4939-8F17-768D5585AF89}"/>
              </a:ext>
            </a:extLst>
          </p:cNvPr>
          <p:cNvSpPr txBox="1"/>
          <p:nvPr/>
        </p:nvSpPr>
        <p:spPr>
          <a:xfrm>
            <a:off x="2343536" y="2573731"/>
            <a:ext cx="665608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9" indent="-457189">
              <a:buFont typeface="Wingdings" panose="05000000000000000000" pitchFamily="2" charset="2"/>
              <a:buChar char="ü"/>
            </a:pPr>
            <a:r>
              <a:rPr lang="ru-RU" sz="2800" b="1" dirty="0">
                <a:solidFill>
                  <a:schemeClr val="accent6">
                    <a:lumMod val="50000"/>
                  </a:schemeClr>
                </a:solidFill>
              </a:rPr>
              <a:t>Поэтапное наращивание 			функционала</a:t>
            </a:r>
          </a:p>
          <a:p>
            <a:pPr marL="2285966" lvl="4" indent="-457189">
              <a:buFont typeface="Wingdings" panose="05000000000000000000" pitchFamily="2" charset="2"/>
              <a:buChar char="ü"/>
            </a:pPr>
            <a:r>
              <a:rPr lang="ru-RU" sz="2800" b="1" dirty="0">
                <a:solidFill>
                  <a:schemeClr val="accent6">
                    <a:lumMod val="50000"/>
                  </a:schemeClr>
                </a:solidFill>
              </a:rPr>
              <a:t>По мере реализации 	получение новых</a:t>
            </a:r>
          </a:p>
          <a:p>
            <a:pPr lvl="4"/>
            <a:r>
              <a:rPr lang="ru-RU" sz="2800" b="1" dirty="0">
                <a:solidFill>
                  <a:schemeClr val="accent6">
                    <a:lumMod val="50000"/>
                  </a:schemeClr>
                </a:solidFill>
              </a:rPr>
              <a:t>  				  требований и 							учет рисков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EF7321-D020-45A4-8D07-B384B09AD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39421835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BBD10E-AC34-497A-B055-4E4269EE4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3050" y="297718"/>
            <a:ext cx="7886700" cy="1325563"/>
          </a:xfrm>
        </p:spPr>
        <p:txBody>
          <a:bodyPr/>
          <a:lstStyle/>
          <a:p>
            <a:r>
              <a:rPr lang="ru-RU" b="1" dirty="0">
                <a:ln w="22225">
                  <a:solidFill>
                    <a:schemeClr val="accent6">
                      <a:lumMod val="50000"/>
                    </a:schemeClr>
                  </a:solidFill>
                  <a:prstDash val="solid"/>
                </a:ln>
                <a:solidFill>
                  <a:schemeClr val="accent6"/>
                </a:solidFill>
              </a:rPr>
              <a:t>Структура сайта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5EE33D-830F-4C8D-83BD-119AAFA319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883" y="1690689"/>
            <a:ext cx="3188368" cy="4351339"/>
          </a:xfrm>
        </p:spPr>
        <p:txBody>
          <a:bodyPr/>
          <a:lstStyle/>
          <a:p>
            <a:pPr marL="0" indent="0">
              <a:buNone/>
            </a:pPr>
            <a:r>
              <a:rPr lang="ru-RU" b="1" dirty="0">
                <a:solidFill>
                  <a:schemeClr val="accent6">
                    <a:lumMod val="50000"/>
                  </a:schemeClr>
                </a:solidFill>
              </a:rPr>
              <a:t>ПО представляет собой многостраничный сайт, в нем реализованы три уровня доступа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u-RU" b="1" dirty="0">
                <a:solidFill>
                  <a:schemeClr val="accent6">
                    <a:lumMod val="50000"/>
                  </a:schemeClr>
                </a:solidFill>
              </a:rPr>
              <a:t>Ученик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u-RU" b="1" dirty="0">
                <a:solidFill>
                  <a:schemeClr val="accent6">
                    <a:lumMod val="50000"/>
                  </a:schemeClr>
                </a:solidFill>
              </a:rPr>
              <a:t>Учитель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u-RU" b="1" dirty="0">
                <a:solidFill>
                  <a:schemeClr val="accent6">
                    <a:lumMod val="50000"/>
                  </a:schemeClr>
                </a:solidFill>
              </a:rPr>
              <a:t>Администратор 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D49972E-F21D-4215-B461-6F79F61DC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484" y="1555874"/>
            <a:ext cx="5646204" cy="4189489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7DDBA06-2060-47EB-B8EF-0DA05AEE9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069151698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5A61C9-B4DE-4EBE-8DC6-022323467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3050" y="247895"/>
            <a:ext cx="7886700" cy="1325563"/>
          </a:xfrm>
        </p:spPr>
        <p:txBody>
          <a:bodyPr/>
          <a:lstStyle/>
          <a:p>
            <a:r>
              <a:rPr lang="ru-RU" b="1" dirty="0">
                <a:ln w="22225">
                  <a:solidFill>
                    <a:schemeClr val="accent6">
                      <a:lumMod val="50000"/>
                    </a:schemeClr>
                  </a:solidFill>
                  <a:prstDash val="solid"/>
                </a:ln>
                <a:solidFill>
                  <a:schemeClr val="accent6"/>
                </a:solidFill>
              </a:rPr>
              <a:t>Принципы удобного пользовательского интерфейса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C7D1AD-6E54-492D-A5DB-E73EC1578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354" y="1792654"/>
            <a:ext cx="3749843" cy="4351339"/>
          </a:xfrm>
        </p:spPr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ru-RU" b="1" dirty="0">
                <a:solidFill>
                  <a:schemeClr val="accent6">
                    <a:lumMod val="50000"/>
                  </a:schemeClr>
                </a:solidFill>
              </a:rPr>
              <a:t>Принцип видимости:</a:t>
            </a:r>
          </a:p>
          <a:p>
            <a:pPr marL="0" indent="0">
              <a:buNone/>
            </a:pPr>
            <a:r>
              <a:rPr lang="ru-RU" b="1" dirty="0">
                <a:solidFill>
                  <a:schemeClr val="accent6">
                    <a:lumMod val="50000"/>
                  </a:schemeClr>
                </a:solidFill>
              </a:rPr>
              <a:t>В процессе разработки был создан сценарий работы пользователя, на его основе был разработан макет страницы личного кабинета ученика.</a:t>
            </a:r>
          </a:p>
          <a:p>
            <a:pPr marL="0" indent="0">
              <a:buNone/>
            </a:pPr>
            <a:r>
              <a:rPr lang="ru-RU" b="1" dirty="0">
                <a:solidFill>
                  <a:schemeClr val="accent6">
                    <a:lumMod val="50000"/>
                  </a:schemeClr>
                </a:solidFill>
              </a:rPr>
              <a:t>Соответственно, принцип видимости реализован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ED0C70A-F8F2-4F16-8142-A197D569D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843" y="1799004"/>
            <a:ext cx="5112803" cy="2720274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0C528C7-386C-4F71-B61F-F1C4F9479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262893327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E8C84B-13E0-426E-9142-FA78C47FB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282073"/>
            <a:ext cx="7886700" cy="1325563"/>
          </a:xfrm>
        </p:spPr>
        <p:txBody>
          <a:bodyPr/>
          <a:lstStyle/>
          <a:p>
            <a:r>
              <a:rPr lang="ru-RU" b="1" dirty="0">
                <a:ln w="22225">
                  <a:solidFill>
                    <a:schemeClr val="accent6">
                      <a:lumMod val="50000"/>
                    </a:schemeClr>
                  </a:solidFill>
                  <a:prstDash val="solid"/>
                </a:ln>
                <a:solidFill>
                  <a:schemeClr val="accent6"/>
                </a:solidFill>
              </a:rPr>
              <a:t>Принципы удобного пользовательского интерфейса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7A90199-1647-4BFD-A1B7-EEB0556555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892" y="1750337"/>
            <a:ext cx="3929667" cy="419016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ru-RU" sz="2000" b="1" dirty="0">
                <a:solidFill>
                  <a:schemeClr val="accent6">
                    <a:lumMod val="50000"/>
                  </a:schemeClr>
                </a:solidFill>
              </a:rPr>
              <a:t>Принцип структуризации:</a:t>
            </a:r>
          </a:p>
          <a:p>
            <a:pPr marL="0" indent="0">
              <a:buNone/>
            </a:pPr>
            <a:r>
              <a:rPr lang="ru-RU" sz="2000" b="1" dirty="0">
                <a:solidFill>
                  <a:schemeClr val="accent6">
                    <a:lumMod val="50000"/>
                  </a:schemeClr>
                </a:solidFill>
              </a:rPr>
              <a:t>В личном кабинете ученика функции перехода на незаконченные тесты и перехода на страницу с заданиями находятся в правой части страницы и визуально совпадают по цветам, а функция просмотра результатов за тестирование находится в противоположной стороне страницы, т.к не является родственной.</a:t>
            </a:r>
          </a:p>
          <a:p>
            <a:endParaRPr lang="ru-RU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4EC51C-6557-453D-B765-5263DBA767C9}"/>
              </a:ext>
            </a:extLst>
          </p:cNvPr>
          <p:cNvSpPr txBox="1"/>
          <p:nvPr/>
        </p:nvSpPr>
        <p:spPr>
          <a:xfrm>
            <a:off x="667892" y="2106481"/>
            <a:ext cx="4368158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chemeClr val="accent6">
                    <a:lumMod val="50000"/>
                  </a:schemeClr>
                </a:solidFill>
              </a:rPr>
              <a:t>На странице созданных тестов у пользователя-преподавателя список тестов разбит на две колонки согласно режиму обучения, для которого этот тест написан.</a:t>
            </a:r>
          </a:p>
          <a:p>
            <a:r>
              <a:rPr lang="ru-RU" sz="2000" b="1" dirty="0">
                <a:solidFill>
                  <a:schemeClr val="accent6">
                    <a:lumMod val="50000"/>
                  </a:schemeClr>
                </a:solidFill>
              </a:rPr>
              <a:t>На странице авторизации поле ввода логина и поле ввода пароля находятся рядом, подписаны в соответствии их функциям, кнопка вход расположена ниже, функции являются родственными. 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EE01FFA-866D-40BC-ABD9-F73FA8FAB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1641" y="2252201"/>
            <a:ext cx="3390322" cy="180093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2119CD4-8130-4E13-8267-E59DCF20E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6665" y="1690689"/>
            <a:ext cx="3242505" cy="215473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9F75816-2CE3-4A1D-8F50-E84B3B1350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2757" y="4152867"/>
            <a:ext cx="3390322" cy="1686998"/>
          </a:xfrm>
          <a:prstGeom prst="rect">
            <a:avLst/>
          </a:prstGeom>
        </p:spPr>
      </p:pic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2311C6DB-9BE8-474F-9241-F74A32389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9246182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FF73CA-6F52-4AE3-A5F3-1E4EC76A6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629" y="284915"/>
            <a:ext cx="7886700" cy="1325563"/>
          </a:xfrm>
        </p:spPr>
        <p:txBody>
          <a:bodyPr/>
          <a:lstStyle/>
          <a:p>
            <a:r>
              <a:rPr lang="ru-RU" b="1" dirty="0">
                <a:ln w="22225">
                  <a:solidFill>
                    <a:schemeClr val="accent6">
                      <a:lumMod val="50000"/>
                    </a:schemeClr>
                  </a:solidFill>
                  <a:prstDash val="solid"/>
                </a:ln>
                <a:solidFill>
                  <a:schemeClr val="accent6"/>
                </a:solidFill>
              </a:rPr>
              <a:t>Руководство оператора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ADAFE9-46B0-481E-8E8A-FBDBA28F16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>
                <a:solidFill>
                  <a:schemeClr val="accent6">
                    <a:lumMod val="50000"/>
                  </a:schemeClr>
                </a:solidFill>
              </a:rPr>
              <a:t>В руководстве оператора описано следующее: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b="1" dirty="0">
                <a:solidFill>
                  <a:schemeClr val="accent6">
                    <a:lumMod val="50000"/>
                  </a:schemeClr>
                </a:solidFill>
              </a:rPr>
              <a:t>Функции: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ru-RU" b="1" dirty="0">
                <a:solidFill>
                  <a:schemeClr val="accent6">
                    <a:lumMod val="50000"/>
                  </a:schemeClr>
                </a:solidFill>
                <a:ea typeface="Times New Roman" panose="02020603050405020304" pitchFamily="18" charset="0"/>
              </a:rPr>
              <a:t>«Добавление тестов»</a:t>
            </a:r>
            <a:endParaRPr lang="ru-RU" b="1" dirty="0">
              <a:solidFill>
                <a:schemeClr val="accent6">
                  <a:lumMod val="50000"/>
                </a:schemeClr>
              </a:solidFill>
              <a:ea typeface="Calibri" panose="020F0502020204030204" pitchFamily="34" charset="0"/>
            </a:endParaRPr>
          </a:p>
          <a:p>
            <a:pPr lvl="1">
              <a:buFont typeface="Wingdings" panose="05000000000000000000" pitchFamily="2" charset="2"/>
              <a:buChar char="q"/>
            </a:pPr>
            <a:r>
              <a:rPr lang="ru-RU" b="1" dirty="0">
                <a:solidFill>
                  <a:schemeClr val="accent6">
                    <a:lumMod val="50000"/>
                  </a:schemeClr>
                </a:solidFill>
                <a:ea typeface="Times New Roman" panose="02020603050405020304" pitchFamily="18" charset="0"/>
              </a:rPr>
              <a:t>«Редактирование тестов»</a:t>
            </a:r>
            <a:endParaRPr lang="ru-RU" b="1" dirty="0">
              <a:solidFill>
                <a:schemeClr val="accent6">
                  <a:lumMod val="50000"/>
                </a:schemeClr>
              </a:solidFill>
              <a:ea typeface="Calibri" panose="020F0502020204030204" pitchFamily="34" charset="0"/>
            </a:endParaRPr>
          </a:p>
          <a:p>
            <a:pPr lvl="1">
              <a:buFont typeface="Wingdings" panose="05000000000000000000" pitchFamily="2" charset="2"/>
              <a:buChar char="q"/>
            </a:pPr>
            <a:r>
              <a:rPr lang="ru-RU" b="1" dirty="0">
                <a:solidFill>
                  <a:schemeClr val="accent6">
                    <a:lumMod val="50000"/>
                  </a:schemeClr>
                </a:solidFill>
                <a:ea typeface="Times New Roman" panose="02020603050405020304" pitchFamily="18" charset="0"/>
              </a:rPr>
              <a:t>«Редактирование тестов»</a:t>
            </a:r>
            <a:endParaRPr lang="ru-RU" b="1" dirty="0">
              <a:solidFill>
                <a:schemeClr val="accent6">
                  <a:lumMod val="50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ru-RU" b="1" dirty="0">
                <a:solidFill>
                  <a:schemeClr val="accent6">
                    <a:lumMod val="50000"/>
                  </a:schemeClr>
                </a:solidFill>
              </a:rPr>
              <a:t>Ошибки: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ru-RU" b="1" dirty="0">
                <a:solidFill>
                  <a:schemeClr val="accent6">
                    <a:lumMod val="50000"/>
                  </a:schemeClr>
                </a:solidFill>
                <a:effectLst/>
                <a:ea typeface="Times New Roman" panose="02020603050405020304" pitchFamily="18" charset="0"/>
              </a:rPr>
              <a:t>«Ошибка выполнения функции»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ru-RU" b="1" dirty="0">
                <a:solidFill>
                  <a:schemeClr val="accent6">
                    <a:lumMod val="50000"/>
                  </a:schemeClr>
                </a:solidFill>
                <a:effectLst/>
                <a:ea typeface="Times New Roman" panose="02020603050405020304" pitchFamily="18" charset="0"/>
              </a:rPr>
              <a:t>«Изменение текста»</a:t>
            </a:r>
          </a:p>
          <a:p>
            <a:pPr lvl="1">
              <a:buFont typeface="Wingdings" panose="05000000000000000000" pitchFamily="2" charset="2"/>
              <a:buChar char="q"/>
            </a:pPr>
            <a:endParaRPr lang="ru-RU" sz="180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B3F5504-E05E-48BF-9612-82C583E68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782051370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1F21D2-FC1A-41B0-9086-8DD5354B4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n w="22225">
                  <a:solidFill>
                    <a:schemeClr val="accent6">
                      <a:lumMod val="50000"/>
                    </a:schemeClr>
                  </a:solidFill>
                  <a:prstDash val="solid"/>
                </a:ln>
                <a:solidFill>
                  <a:schemeClr val="accent6"/>
                </a:solidFill>
              </a:rPr>
              <a:t>Основные оценочные элементы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C6E317-72C8-405F-AD2E-3B46BA82B9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3358" y="1565257"/>
            <a:ext cx="4430642" cy="449679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>
                <a:solidFill>
                  <a:schemeClr val="accent6">
                    <a:lumMod val="50000"/>
                  </a:schemeClr>
                </a:solidFill>
              </a:rPr>
              <a:t>Способность к восстановлению:</a:t>
            </a:r>
          </a:p>
          <a:p>
            <a:pPr lvl="1"/>
            <a:r>
              <a:rPr lang="ru-RU" b="1" dirty="0">
                <a:solidFill>
                  <a:schemeClr val="accent6">
                    <a:lumMod val="50000"/>
                  </a:schemeClr>
                </a:solidFill>
              </a:rPr>
              <a:t>Сайт создает </a:t>
            </a:r>
            <a:r>
              <a:rPr lang="ru-RU" b="1" dirty="0" err="1">
                <a:solidFill>
                  <a:schemeClr val="accent6">
                    <a:lumMod val="50000"/>
                  </a:schemeClr>
                </a:solidFill>
              </a:rPr>
              <a:t>backup</a:t>
            </a:r>
            <a:r>
              <a:rPr lang="ru-RU" b="1" dirty="0">
                <a:solidFill>
                  <a:schemeClr val="accent6">
                    <a:lumMod val="50000"/>
                  </a:schemeClr>
                </a:solidFill>
              </a:rPr>
              <a:t>-ы каждые 20 минут </a:t>
            </a:r>
          </a:p>
          <a:p>
            <a:pPr lvl="1"/>
            <a:r>
              <a:rPr lang="ru-RU" b="1" dirty="0">
                <a:solidFill>
                  <a:schemeClr val="accent6">
                    <a:lumMod val="50000"/>
                  </a:schemeClr>
                </a:solidFill>
              </a:rPr>
              <a:t>автоматическое восстановление сайта после отказа - не более 10 часов</a:t>
            </a:r>
          </a:p>
          <a:p>
            <a:pPr marL="0" indent="0">
              <a:buNone/>
            </a:pPr>
            <a:r>
              <a:rPr lang="ru-RU" b="1" dirty="0" err="1">
                <a:solidFill>
                  <a:schemeClr val="accent6">
                    <a:lumMod val="50000"/>
                  </a:schemeClr>
                </a:solidFill>
              </a:rPr>
              <a:t>Анализируемость</a:t>
            </a:r>
            <a:endParaRPr lang="ru-RU" b="1" dirty="0">
              <a:solidFill>
                <a:schemeClr val="accent6">
                  <a:lumMod val="50000"/>
                </a:schemeClr>
              </a:solidFill>
            </a:endParaRPr>
          </a:p>
          <a:p>
            <a:pPr lvl="1"/>
            <a:r>
              <a:rPr lang="ru-RU" b="1" dirty="0">
                <a:solidFill>
                  <a:schemeClr val="accent6">
                    <a:lumMod val="50000"/>
                  </a:schemeClr>
                </a:solidFill>
              </a:rPr>
              <a:t>Код программы разбит на модули, в зависимости от функционального назначения</a:t>
            </a:r>
          </a:p>
          <a:p>
            <a:pPr lvl="1"/>
            <a:r>
              <a:rPr lang="ru-RU" b="1" dirty="0">
                <a:solidFill>
                  <a:schemeClr val="accent6">
                    <a:lumMod val="50000"/>
                  </a:schemeClr>
                </a:solidFill>
              </a:rPr>
              <a:t>В коде присутствуют комментарии, которые объясняют назначение той или иной части кода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5A4909A-5FD6-4DB3-B043-FCA4B2D5DA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603" b="5149"/>
          <a:stretch/>
        </p:blipFill>
        <p:spPr>
          <a:xfrm>
            <a:off x="316637" y="4049102"/>
            <a:ext cx="4396721" cy="22891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7B78D45-92DE-407D-B1F8-32055FFFAF4C}"/>
              </a:ext>
            </a:extLst>
          </p:cNvPr>
          <p:cNvSpPr txBox="1"/>
          <p:nvPr/>
        </p:nvSpPr>
        <p:spPr>
          <a:xfrm>
            <a:off x="-118180" y="1490008"/>
            <a:ext cx="5040086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4"/>
            <a:r>
              <a:rPr lang="ru-RU" sz="2400" b="1" dirty="0">
                <a:solidFill>
                  <a:schemeClr val="accent6">
                    <a:lumMod val="50000"/>
                  </a:schemeClr>
                </a:solidFill>
              </a:rPr>
              <a:t>Удобство </a:t>
            </a:r>
            <a:r>
              <a:rPr lang="ru-RU" sz="2600" b="1" dirty="0">
                <a:solidFill>
                  <a:schemeClr val="accent6">
                    <a:lumMod val="50000"/>
                  </a:schemeClr>
                </a:solidFill>
              </a:rPr>
              <a:t>работы</a:t>
            </a:r>
          </a:p>
          <a:p>
            <a:pPr marL="800080" lvl="1" indent="-342891">
              <a:buFont typeface="Arial" panose="020B0604020202020204" pitchFamily="34" charset="0"/>
              <a:buChar char="•"/>
            </a:pPr>
            <a:r>
              <a:rPr lang="ru-RU" sz="2200" b="1" dirty="0">
                <a:solidFill>
                  <a:schemeClr val="accent6">
                    <a:lumMod val="50000"/>
                  </a:schemeClr>
                </a:solidFill>
              </a:rPr>
              <a:t>Соблюдены принципы удобного пользовательского интерфейса</a:t>
            </a:r>
          </a:p>
          <a:p>
            <a:pPr marL="800080" lvl="1" indent="-342891">
              <a:buFont typeface="Arial" panose="020B0604020202020204" pitchFamily="34" charset="0"/>
              <a:buChar char="•"/>
            </a:pPr>
            <a:r>
              <a:rPr lang="ru-RU" sz="2200" b="1" dirty="0">
                <a:solidFill>
                  <a:schemeClr val="accent6">
                    <a:lumMod val="50000"/>
                  </a:schemeClr>
                </a:solidFill>
              </a:rPr>
              <a:t>Для доступа к функции в среднем требуется не более 3 действий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C9BDF70D-5D07-4D6B-A08F-943E143C5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163902207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167FBC-56AA-47F7-97AC-CA2E85B84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33042"/>
            <a:ext cx="7886700" cy="1325563"/>
          </a:xfrm>
        </p:spPr>
        <p:txBody>
          <a:bodyPr/>
          <a:lstStyle/>
          <a:p>
            <a:r>
              <a:rPr lang="ru-RU" b="1" dirty="0">
                <a:ln w="22225">
                  <a:solidFill>
                    <a:schemeClr val="accent6">
                      <a:lumMod val="50000"/>
                    </a:schemeClr>
                  </a:solidFill>
                  <a:prstDash val="solid"/>
                </a:ln>
                <a:solidFill>
                  <a:schemeClr val="accent6"/>
                </a:solidFill>
              </a:rPr>
              <a:t>Тестирование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75B2F7-80CC-4FAB-A217-DF37A24CAD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748" y="1825625"/>
            <a:ext cx="800760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1" dirty="0">
                <a:solidFill>
                  <a:schemeClr val="accent6">
                    <a:lumMod val="50000"/>
                  </a:schemeClr>
                </a:solidFill>
              </a:rPr>
              <a:t>Методы тестирования:</a:t>
            </a:r>
          </a:p>
          <a:p>
            <a:r>
              <a:rPr lang="ru-RU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ru-RU" sz="2000" b="1" dirty="0" err="1">
                <a:solidFill>
                  <a:schemeClr val="accent6">
                    <a:lumMod val="50000"/>
                  </a:schemeClr>
                </a:solidFill>
              </a:rPr>
              <a:t>Валидационные</a:t>
            </a:r>
            <a:r>
              <a:rPr lang="ru-RU" sz="2000" b="1" dirty="0">
                <a:solidFill>
                  <a:schemeClr val="accent6">
                    <a:lumMod val="50000"/>
                  </a:schemeClr>
                </a:solidFill>
              </a:rPr>
              <a:t> и верификационные испытания</a:t>
            </a:r>
          </a:p>
          <a:p>
            <a:r>
              <a:rPr lang="ru-RU" sz="2000" b="1" dirty="0">
                <a:solidFill>
                  <a:schemeClr val="accent6">
                    <a:lumMod val="50000"/>
                  </a:schemeClr>
                </a:solidFill>
              </a:rPr>
              <a:t> Позитивные тесты и негативные тесты</a:t>
            </a:r>
          </a:p>
          <a:p>
            <a:pPr marL="0" indent="0">
              <a:buNone/>
            </a:pPr>
            <a:r>
              <a:rPr lang="ru-RU" sz="2000" b="1" dirty="0">
                <a:solidFill>
                  <a:schemeClr val="accent6">
                    <a:lumMod val="50000"/>
                  </a:schemeClr>
                </a:solidFill>
              </a:rPr>
              <a:t>Тест-кейсы представлены в виде таблиц с полями: действие, ожидаемый результат:</a:t>
            </a:r>
          </a:p>
          <a:p>
            <a:pPr marL="0" indent="0">
              <a:buNone/>
            </a:pPr>
            <a:endParaRPr lang="ru-RU" sz="2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E6D9B90-5D5C-4971-AB5B-54696C373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3767708"/>
            <a:ext cx="4810796" cy="28864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0501C3A-FBC3-46CE-A950-1598D3657423}"/>
              </a:ext>
            </a:extLst>
          </p:cNvPr>
          <p:cNvSpPr txBox="1"/>
          <p:nvPr/>
        </p:nvSpPr>
        <p:spPr>
          <a:xfrm>
            <a:off x="5560348" y="3767708"/>
            <a:ext cx="331770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2000" b="1" dirty="0">
                <a:solidFill>
                  <a:schemeClr val="accent6">
                    <a:lumMod val="50000"/>
                  </a:schemeClr>
                </a:solidFill>
              </a:rPr>
              <a:t>Техники подбора тестовых значений: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sz="2000" b="1" dirty="0">
                <a:solidFill>
                  <a:schemeClr val="accent6">
                    <a:lumMod val="50000"/>
                  </a:schemeClr>
                </a:solidFill>
              </a:rPr>
              <a:t>Эквивалентное разделение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sz="2000" b="1" dirty="0">
                <a:solidFill>
                  <a:schemeClr val="accent6">
                    <a:lumMod val="50000"/>
                  </a:schemeClr>
                </a:solidFill>
              </a:rPr>
              <a:t>Анализ граничных значений</a:t>
            </a:r>
          </a:p>
          <a:p>
            <a:pPr marL="0" indent="0">
              <a:buNone/>
            </a:pPr>
            <a:endParaRPr lang="ru-RU" sz="2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D0A0F9D4-F337-46E8-9891-06666CECE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248027944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A3CBC9-A533-4B95-9E45-143FE6AA5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8671" y="323598"/>
            <a:ext cx="7886700" cy="1325563"/>
          </a:xfrm>
        </p:spPr>
        <p:txBody>
          <a:bodyPr/>
          <a:lstStyle/>
          <a:p>
            <a:r>
              <a:rPr lang="ru-RU" b="1" dirty="0">
                <a:ln w="22225">
                  <a:solidFill>
                    <a:schemeClr val="accent6">
                      <a:lumMod val="50000"/>
                    </a:schemeClr>
                  </a:solidFill>
                  <a:prstDash val="solid"/>
                </a:ln>
                <a:solidFill>
                  <a:schemeClr val="accent6"/>
                </a:solidFill>
              </a:rPr>
              <a:t>Выводы</a:t>
            </a:r>
            <a:r>
              <a:rPr lang="ru-RU" dirty="0"/>
              <a:t>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6A3E6C-DDF3-4421-8FCF-BD6D45B4EB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894" y="1849072"/>
            <a:ext cx="8140212" cy="4293821"/>
          </a:xfrm>
        </p:spPr>
        <p:txBody>
          <a:bodyPr>
            <a:normAutofit fontScale="92500" lnSpcReduction="10000"/>
          </a:bodyPr>
          <a:lstStyle/>
          <a:p>
            <a:r>
              <a:rPr lang="ru-RU" b="1" dirty="0">
                <a:solidFill>
                  <a:schemeClr val="accent6">
                    <a:lumMod val="50000"/>
                  </a:schemeClr>
                </a:solidFill>
              </a:rPr>
              <a:t>Работа по созданию сайта выполнена на 30%</a:t>
            </a:r>
          </a:p>
          <a:p>
            <a:r>
              <a:rPr lang="ru-RU" b="1" dirty="0">
                <a:solidFill>
                  <a:schemeClr val="accent6">
                    <a:lumMod val="50000"/>
                  </a:schemeClr>
                </a:solidFill>
              </a:rPr>
              <a:t>На данный момент реализовано 5 страниц: главная страница, страница выбора режима, страницы с тестами, вопросами и текстом</a:t>
            </a:r>
          </a:p>
          <a:p>
            <a:r>
              <a:rPr lang="ru-RU" b="1" dirty="0">
                <a:solidFill>
                  <a:schemeClr val="accent6">
                    <a:lumMod val="50000"/>
                  </a:schemeClr>
                </a:solidFill>
              </a:rPr>
              <a:t>Планируется реализовать или изменить: главную страницу, личные кабинеты, базы данных, уровни доступа, страницы редактирования заданий</a:t>
            </a:r>
          </a:p>
          <a:p>
            <a:r>
              <a:rPr lang="ru-RU" b="1" dirty="0">
                <a:solidFill>
                  <a:schemeClr val="accent6">
                    <a:lumMod val="50000"/>
                  </a:schemeClr>
                </a:solidFill>
              </a:rPr>
              <a:t>Особенно мне удалось реализовать: функции тестов (проверка правильности ответов, вывод статистики) и функцию таймера для заданий слепой печати </a:t>
            </a:r>
            <a:endParaRPr lang="en-US" b="1" dirty="0">
              <a:solidFill>
                <a:schemeClr val="accent6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https://github.com/NordFlorensijaKingdom/PROJECT.git</a:t>
            </a:r>
            <a:endParaRPr lang="ru-RU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7B6A4E6-A7C9-42C7-84E2-3B2BABAA8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286043497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18CE5E-1642-4567-83DC-51260424AF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ru-RU" sz="6600" b="1" dirty="0">
                <a:ln>
                  <a:solidFill>
                    <a:schemeClr val="accent6">
                      <a:lumMod val="5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</a:rPr>
              <a:t>Онлайн школа </a:t>
            </a:r>
            <a:r>
              <a:rPr lang="en-US" sz="6600" b="1" dirty="0">
                <a:ln>
                  <a:solidFill>
                    <a:schemeClr val="accent6">
                      <a:lumMod val="5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</a:rPr>
              <a:t>PC4DINOS</a:t>
            </a:r>
            <a:endParaRPr lang="ru-RU" sz="6600" b="1" dirty="0">
              <a:ln>
                <a:solidFill>
                  <a:schemeClr val="accent6">
                    <a:lumMod val="50000"/>
                  </a:schemeClr>
                </a:solidFill>
              </a:ln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F30B123-C5D8-4A0F-96E7-0E11B329EA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3200" b="1" dirty="0">
                <a:solidFill>
                  <a:schemeClr val="accent6">
                    <a:lumMod val="50000"/>
                  </a:schemeClr>
                </a:solidFill>
              </a:rPr>
              <a:t>Дорожкин Михаил 22919-21</a:t>
            </a:r>
          </a:p>
        </p:txBody>
      </p:sp>
    </p:spTree>
    <p:extLst>
      <p:ext uri="{BB962C8B-B14F-4D97-AF65-F5344CB8AC3E}">
        <p14:creationId xmlns:p14="http://schemas.microsoft.com/office/powerpoint/2010/main" val="964079935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1117</TotalTime>
  <Words>493</Words>
  <Application>Microsoft Office PowerPoint</Application>
  <PresentationFormat>Экран (4:3)</PresentationFormat>
  <Paragraphs>74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Courier New</vt:lpstr>
      <vt:lpstr>Wingdings</vt:lpstr>
      <vt:lpstr>Тема Office</vt:lpstr>
      <vt:lpstr>Онлайн школа PC4DINOS</vt:lpstr>
      <vt:lpstr>Предметная область</vt:lpstr>
      <vt:lpstr>Требования к ПО</vt:lpstr>
      <vt:lpstr>Модель жизненного цикла</vt:lpstr>
      <vt:lpstr>Структура сайта</vt:lpstr>
      <vt:lpstr>Принципы удобного пользовательского интерфейса</vt:lpstr>
      <vt:lpstr>Принципы удобного пользовательского интерфейса</vt:lpstr>
      <vt:lpstr>Руководство оператора</vt:lpstr>
      <vt:lpstr>Основные оценочные элементы</vt:lpstr>
      <vt:lpstr>Тестирование </vt:lpstr>
      <vt:lpstr>Выводы </vt:lpstr>
      <vt:lpstr>Онлайн школа PC4DINOS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Михаил Дорожкин</dc:creator>
  <cp:lastModifiedBy>Михаил Дорожкин</cp:lastModifiedBy>
  <cp:revision>28</cp:revision>
  <dcterms:created xsi:type="dcterms:W3CDTF">2025-06-14T20:52:44Z</dcterms:created>
  <dcterms:modified xsi:type="dcterms:W3CDTF">2025-06-18T19:37:55Z</dcterms:modified>
</cp:coreProperties>
</file>